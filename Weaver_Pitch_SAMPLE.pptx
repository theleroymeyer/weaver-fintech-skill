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75EFA"/>
              </a:solidFill>
              <a:effectLst/>
            </c:spPr>
          </c:dPt>
          <c:dPt>
            <c:idx val="1"/>
            <c:bubble3D val="0"/>
            <c:spPr>
              <a:solidFill>
                <a:srgbClr val="1A1A1A"/>
              </a:solidFill>
              <a:effectLst/>
            </c:spPr>
          </c:dPt>
          <c:dPt>
            <c:idx val="2"/>
            <c:bubble3D val="0"/>
            <c:spPr>
              <a:solidFill>
                <a:srgbClr val="2A62F5"/>
              </a:solidFill>
              <a:effectLst/>
            </c:spPr>
          </c:dPt>
          <c:dPt>
            <c:idx val="3"/>
            <c:bubble3D val="0"/>
            <c:spPr>
              <a:solidFill>
                <a:srgbClr val="1DCD86"/>
              </a:solidFill>
              <a:effectLst/>
            </c:spPr>
          </c:dPt>
          <c:dPt>
            <c:idx val="4"/>
            <c:bubble3D val="0"/>
            <c:spPr>
              <a:solidFill>
                <a:srgbClr val="DDDDD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Personal Loans</c:v>
                </c:pt>
                <c:pt idx="1">
                  <c:v>Buy Now Pay Later</c:v>
                </c:pt>
                <c:pt idx="2">
                  <c:v>Insurance</c:v>
                </c:pt>
                <c:pt idx="3">
                  <c:v>Savings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52</c:v>
                </c:pt>
                <c:pt idx="1">
                  <c:v>28</c:v>
                </c:pt>
                <c:pt idx="2">
                  <c:v>11</c:v>
                </c:pt>
                <c:pt idx="3">
                  <c:v>6</c:v>
                </c:pt>
                <c:pt idx="4">
                  <c:v>3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FY22</c:v>
                </c:pt>
              </c:strCache>
            </c:strRef>
          </c:tx>
          <c:spPr>
            <a:solidFill>
              <a:srgbClr val="DDDDD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App</c:v>
                  </c:pt>
                  <c:pt idx="1">
                    <c:v>USSD</c:v>
                  </c:pt>
                  <c:pt idx="2">
                    <c:v>WhatsApp</c:v>
                  </c:pt>
                  <c:pt idx="3">
                    <c:v>Branch</c:v>
                  </c:pt>
                  <c:pt idx="4">
                    <c:v>Partner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20</c:v>
                </c:pt>
                <c:pt idx="2">
                  <c:v>8</c:v>
                </c:pt>
                <c:pt idx="3">
                  <c:v>35</c:v>
                </c:pt>
                <c:pt idx="4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FY26</c:v>
                </c:pt>
              </c:strCache>
            </c:strRef>
          </c:tx>
          <c:spPr>
            <a:solidFill>
              <a:srgbClr val="875E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App</c:v>
                  </c:pt>
                  <c:pt idx="1">
                    <c:v>USSD</c:v>
                  </c:pt>
                  <c:pt idx="2">
                    <c:v>WhatsApp</c:v>
                  </c:pt>
                  <c:pt idx="3">
                    <c:v>Branch</c:v>
                  </c:pt>
                  <c:pt idx="4">
                    <c:v>Partner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54</c:v>
                </c:pt>
                <c:pt idx="1">
                  <c:v>16</c:v>
                </c:pt>
                <c:pt idx="2">
                  <c:v>14</c:v>
                </c:pt>
                <c:pt idx="3">
                  <c:v>11</c:v>
                </c:pt>
                <c:pt idx="4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LTV:CAC Ratio vs Peers</c:v>
                </c:pt>
              </c:strCache>
            </c:strRef>
          </c:tx>
          <c:spPr>
            <a:solidFill>
              <a:srgbClr val="875EFA"/>
            </a:solidFill>
            <a:ln w="25400" cap="flat">
              <a:solidFill>
                <a:srgbClr val="875EF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75EFA"/>
              </a:solidFill>
              <a:ln w="9525" cap="flat">
                <a:solidFill>
                  <a:srgbClr val="875E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5.1</c:v>
                </c:pt>
                <c:pt idx="1">
                  <c:v>6.2</c:v>
                </c:pt>
                <c:pt idx="2">
                  <c:v>7.4</c:v>
                </c:pt>
                <c:pt idx="3">
                  <c:v>8.3</c:v>
                </c:pt>
                <c:pt idx="4">
                  <c:v>9.1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Digital Acquisition Mix (%)</c:v>
                </c:pt>
              </c:strCache>
            </c:strRef>
          </c:tx>
          <c:spPr>
            <a:solidFill>
              <a:srgbClr val="875EFA"/>
            </a:solidFill>
            <a:ln w="25400" cap="flat">
              <a:solidFill>
                <a:srgbClr val="875EF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75EFA"/>
              </a:solidFill>
              <a:ln w="9525" cap="flat">
                <a:solidFill>
                  <a:srgbClr val="875E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</c:v>
                </c:pt>
                <c:pt idx="1">
                  <c:v>48</c:v>
                </c:pt>
                <c:pt idx="2">
                  <c:v>62</c:v>
                </c:pt>
                <c:pt idx="3">
                  <c:v>75</c:v>
                </c:pt>
                <c:pt idx="4">
                  <c:v>84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Growth YoY (%)</c:v>
                </c:pt>
              </c:strCache>
            </c:strRef>
          </c:tx>
          <c:spPr>
            <a:solidFill>
              <a:srgbClr val="875EFA"/>
            </a:solidFill>
            <a:ln w="25400" cap="flat">
              <a:solidFill>
                <a:srgbClr val="875EF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875EFA"/>
              </a:solidFill>
              <a:ln w="9525" cap="flat">
                <a:solidFill>
                  <a:srgbClr val="875EF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FY22</c:v>
                  </c:pt>
                  <c:pt idx="1">
                    <c:v>FY23</c:v>
                  </c:pt>
                  <c:pt idx="2">
                    <c:v>FY24</c:v>
                  </c:pt>
                  <c:pt idx="3">
                    <c:v>FY25</c:v>
                  </c:pt>
                  <c:pt idx="4">
                    <c:v>FY26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14</c:v>
                </c:pt>
                <c:pt idx="2">
                  <c:v>18</c:v>
                </c:pt>
                <c:pt idx="3">
                  <c:v>21</c:v>
                </c:pt>
                <c:pt idx="4">
                  <c:v>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4" Type="http://schemas.openxmlformats.org/officeDocument/2006/relationships/chart" Target="/ppt/charts/chart2.xml"/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image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256032"/>
            <a:ext cx="228600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828800"/>
            <a:ext cx="658368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75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Powering the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875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of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875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Financial Access.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320040" y="4663440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Overview &amp; Investment Proposition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320040" y="51023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June 2026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20040" y="5440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weaverfintech.com</a:t>
            </a:r>
            <a:endParaRPr lang="en-US" sz="1200" dirty="0"/>
          </a:p>
        </p:txBody>
      </p:sp>
      <p:pic>
        <p:nvPicPr>
          <p:cNvPr id="7" name="Image 1" descr="/home/claude/weaver-extract/unpacked/ppt/media/image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7248" y="0"/>
            <a:ext cx="9061704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image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75720" y="73152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82880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75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875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Are.</a:t>
            </a:r>
            <a:endParaRPr lang="en-US" sz="5200" dirty="0"/>
          </a:p>
        </p:txBody>
      </p:sp>
      <p:pic>
        <p:nvPicPr>
          <p:cNvPr id="4" name="Image 1" descr="/home/claude/weaver-extract/unpacked/ppt/media/image6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0"/>
            <a:ext cx="6300216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704320" y="66294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image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75720" y="73152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73152"/>
            <a:ext cx="10698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75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Weaver Fintech is redefining access to financial services across emerging markets.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20040" y="493776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Overview  |  2026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82880" y="868680"/>
            <a:ext cx="2267712" cy="1828800"/>
          </a:xfrm>
          <a:prstGeom prst="roundRect">
            <a:avLst>
              <a:gd name="adj" fmla="val 5000"/>
            </a:avLst>
          </a:prstGeom>
          <a:solidFill>
            <a:srgbClr val="875EFA"/>
          </a:solidFill>
          <a:ln w="12700">
            <a:solidFill>
              <a:srgbClr val="875E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92608" y="960120"/>
            <a:ext cx="20482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2018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74320" y="1810512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Johannesburg, ZA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560320" y="868680"/>
            <a:ext cx="2267712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670048" y="960120"/>
            <a:ext cx="20482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75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1.2M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651760" y="1810512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Active customers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growing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4937760" y="868680"/>
            <a:ext cx="2267712" cy="1828800"/>
          </a:xfrm>
          <a:prstGeom prst="roundRect">
            <a:avLst>
              <a:gd name="adj" fmla="val 5000"/>
            </a:avLst>
          </a:prstGeom>
          <a:solidFill>
            <a:srgbClr val="875EFA"/>
          </a:solidFill>
          <a:ln w="12700">
            <a:solidFill>
              <a:srgbClr val="875E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47488" y="960120"/>
            <a:ext cx="20482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R2.4B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5029200" y="1810512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originated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date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7315200" y="868680"/>
            <a:ext cx="2267712" cy="182880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424928" y="960120"/>
            <a:ext cx="20482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875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84%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406640" y="1810512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Digitally acquired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9692640" y="868680"/>
            <a:ext cx="2267712" cy="1828800"/>
          </a:xfrm>
          <a:prstGeom prst="roundRect">
            <a:avLst>
              <a:gd name="adj" fmla="val 5000"/>
            </a:avLst>
          </a:prstGeom>
          <a:solidFill>
            <a:srgbClr val="875EFA"/>
          </a:solidFill>
          <a:ln w="12700">
            <a:solidFill>
              <a:srgbClr val="875EF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802368" y="960120"/>
            <a:ext cx="204825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24%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9784080" y="1810512"/>
            <a:ext cx="20848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growth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year-on-year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82880" y="2962656"/>
            <a:ext cx="274320" cy="2743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82880" y="29626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594360" y="2926080"/>
            <a:ext cx="1143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Licensed and regulated — fully compliant with FSCA, NCA, and POPIA across all markets.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182880" y="3401568"/>
            <a:ext cx="274320" cy="2743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82880" y="34015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594360" y="3364992"/>
            <a:ext cx="1143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Digital-first acquisition model delivers customers at R18 CPA vs R108 at branch — a 6× efficiency advantage.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82880" y="3840480"/>
            <a:ext cx="274320" cy="2743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82880" y="38404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594360" y="3803904"/>
            <a:ext cx="1143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Proprietary credit scoring engine trained on 6M+ data points, enabling responsible lending to underserved segments.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182880" y="4279392"/>
            <a:ext cx="274320" cy="2743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82880" y="427939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594360" y="4242816"/>
            <a:ext cx="1143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Omnichannel servicing via app, USSD, WhatsApp, and branch — meeting customers where they are.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182880" y="4718304"/>
            <a:ext cx="274320" cy="274320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82880" y="471830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594360" y="4681728"/>
            <a:ext cx="11430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Profitable and capital-efficient: 9.1× LTV:CAC ratio, well above the 4–5× global benchmark.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0" y="5230368"/>
            <a:ext cx="12188952" cy="162763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0" y="5230368"/>
            <a:ext cx="64008" cy="1627632"/>
          </a:xfrm>
          <a:prstGeom prst="rect">
            <a:avLst/>
          </a:prstGeom>
          <a:solidFill>
            <a:srgbClr val="875EFA"/>
          </a:solidFill>
          <a:ln w="12700">
            <a:solidFill>
              <a:srgbClr val="875EF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182880" y="53218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75E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182880" y="5532120"/>
            <a:ext cx="1188720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82880" y="5577840"/>
            <a:ext cx="1188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Weaver has already proven product-market fit at scale — the question is no longer if, but how fast.</a:t>
            </a:r>
            <a:endParaRPr lang="en-US" sz="1050" dirty="0"/>
          </a:p>
        </p:txBody>
      </p:sp>
      <p:sp>
        <p:nvSpPr>
          <p:cNvPr id="40" name="Text 37"/>
          <p:cNvSpPr/>
          <p:nvPr/>
        </p:nvSpPr>
        <p:spPr>
          <a:xfrm>
            <a:off x="182880" y="60350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implication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182880" y="62362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proven model with a 6× cost advantage and profitable unit economics is ready to absorb capital and grow.</a:t>
            </a:r>
            <a:endParaRPr lang="en-US" sz="750" dirty="0"/>
          </a:p>
        </p:txBody>
      </p:sp>
      <p:sp>
        <p:nvSpPr>
          <p:cNvPr id="42" name="Text 39"/>
          <p:cNvSpPr/>
          <p:nvPr/>
        </p:nvSpPr>
        <p:spPr>
          <a:xfrm>
            <a:off x="4160520" y="60350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or watch point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160520" y="62362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risk is the primary variable — leadership depth and operational infrastructure must scale with growth.</a:t>
            </a:r>
            <a:endParaRPr lang="en-US" sz="750" dirty="0"/>
          </a:p>
        </p:txBody>
      </p:sp>
      <p:sp>
        <p:nvSpPr>
          <p:cNvPr id="44" name="Text 41"/>
          <p:cNvSpPr/>
          <p:nvPr/>
        </p:nvSpPr>
        <p:spPr>
          <a:xfrm>
            <a:off x="8138160" y="60350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action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8138160" y="62362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capital into the three highest-leverage channels: digital acquisition, product expansion, and geographic entry.</a:t>
            </a:r>
            <a:endParaRPr lang="en-US" sz="750" dirty="0"/>
          </a:p>
        </p:txBody>
      </p:sp>
      <p:sp>
        <p:nvSpPr>
          <p:cNvPr id="46" name="Text 43"/>
          <p:cNvSpPr/>
          <p:nvPr/>
        </p:nvSpPr>
        <p:spPr>
          <a:xfrm>
            <a:off x="11704320" y="66294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image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75720" y="73152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82880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75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875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Do.</a:t>
            </a:r>
            <a:endParaRPr lang="en-US" sz="5200" dirty="0"/>
          </a:p>
        </p:txBody>
      </p:sp>
      <p:pic>
        <p:nvPicPr>
          <p:cNvPr id="4" name="Image 1" descr="/home/claude/weaver-extract/unpacked/ppt/media/image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0"/>
            <a:ext cx="6300216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704320" y="66294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image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75720" y="73152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73152"/>
            <a:ext cx="10698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75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full-stack lending platform: origination, servicing, collections, and reinvestment — all in one.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20040" y="493776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Products &amp; Channels  |  2026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82880" y="804672"/>
            <a:ext cx="5852160" cy="431596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10896" y="896112"/>
            <a:ext cx="55961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Product Line (%)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10896" y="1152144"/>
            <a:ext cx="5596128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228600" y="1207008"/>
          <a:ext cx="5760720" cy="3858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6153912" y="804672"/>
            <a:ext cx="5852160" cy="431596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81928" y="896112"/>
            <a:ext cx="559612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Acquisition by Channel (%)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281928" y="1152144"/>
            <a:ext cx="5596128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12" name="Chart 1" descr=""/>
          <p:cNvGraphicFramePr/>
          <p:nvPr/>
        </p:nvGraphicFramePr>
        <p:xfrm>
          <a:off x="6199632" y="1207008"/>
          <a:ext cx="5760720" cy="3858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Shape 8"/>
          <p:cNvSpPr/>
          <p:nvPr/>
        </p:nvSpPr>
        <p:spPr>
          <a:xfrm>
            <a:off x="0" y="5230368"/>
            <a:ext cx="12188952" cy="162763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0" y="5230368"/>
            <a:ext cx="64008" cy="1627632"/>
          </a:xfrm>
          <a:prstGeom prst="rect">
            <a:avLst/>
          </a:prstGeom>
          <a:solidFill>
            <a:srgbClr val="875EFA"/>
          </a:solidFill>
          <a:ln w="12700">
            <a:solidFill>
              <a:srgbClr val="875EFA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182880" y="53218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75E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182880" y="5532120"/>
            <a:ext cx="1188720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182880" y="5577840"/>
            <a:ext cx="1188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shift from branch to digital acquisition is the single biggest margin driver in the business.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182880" y="60350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implication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182880" y="62362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10% shift from branch to digital drops blended CPA by ~R9, adding directly to net margin at scale.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4160520" y="60350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or watch point</a:t>
            </a:r>
            <a:endParaRPr lang="en-US" sz="850" dirty="0"/>
          </a:p>
        </p:txBody>
      </p:sp>
      <p:sp>
        <p:nvSpPr>
          <p:cNvPr id="21" name="Text 16"/>
          <p:cNvSpPr/>
          <p:nvPr/>
        </p:nvSpPr>
        <p:spPr>
          <a:xfrm>
            <a:off x="4160520" y="62362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channel mix is approaching saturation in current segments — new segments (youth, rural) must be activated.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8138160" y="60350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action</a:t>
            </a:r>
            <a:endParaRPr lang="en-US" sz="850" dirty="0"/>
          </a:p>
        </p:txBody>
      </p:sp>
      <p:sp>
        <p:nvSpPr>
          <p:cNvPr id="23" name="Text 18"/>
          <p:cNvSpPr/>
          <p:nvPr/>
        </p:nvSpPr>
        <p:spPr>
          <a:xfrm>
            <a:off x="8138160" y="62362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Accelerate USSD and WhatsApp origination in rural corridors where smartphone penetration lags but need is highest.</a:t>
            </a:r>
            <a:endParaRPr lang="en-US" sz="750" dirty="0"/>
          </a:p>
        </p:txBody>
      </p:sp>
      <p:sp>
        <p:nvSpPr>
          <p:cNvPr id="24" name="Text 19"/>
          <p:cNvSpPr/>
          <p:nvPr/>
        </p:nvSpPr>
        <p:spPr>
          <a:xfrm>
            <a:off x="11704320" y="66294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image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75720" y="73152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1828800"/>
            <a:ext cx="53035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875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875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Weaver.</a:t>
            </a:r>
            <a:endParaRPr lang="en-US" sz="5200" dirty="0"/>
          </a:p>
        </p:txBody>
      </p:sp>
      <p:pic>
        <p:nvPicPr>
          <p:cNvPr id="4" name="Image 1" descr="/home/claude/weaver-extract/unpacked/ppt/media/image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0"/>
            <a:ext cx="7306056" cy="68580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704320" y="66294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image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75720" y="73152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73152"/>
            <a:ext cx="10698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75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structural advantages that are durable, compounding, and difficult to replicate.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320040" y="493776"/>
            <a:ext cx="10698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Competitive Position  |  2026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82880" y="804672"/>
            <a:ext cx="3840480" cy="431596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10896" y="896112"/>
            <a:ext cx="35844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LTV:CAC Ratio vs Peers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10896" y="1152144"/>
            <a:ext cx="3584448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8" name="Chart 0" descr=""/>
          <p:cNvGraphicFramePr/>
          <p:nvPr/>
        </p:nvGraphicFramePr>
        <p:xfrm>
          <a:off x="228600" y="1207008"/>
          <a:ext cx="3749040" cy="3858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Shape 5"/>
          <p:cNvSpPr/>
          <p:nvPr/>
        </p:nvSpPr>
        <p:spPr>
          <a:xfrm>
            <a:off x="4178808" y="804672"/>
            <a:ext cx="3840480" cy="431596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306824" y="896112"/>
            <a:ext cx="35844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Acquisition Mix (%)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306824" y="1152144"/>
            <a:ext cx="3584448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12" name="Chart 1" descr=""/>
          <p:cNvGraphicFramePr/>
          <p:nvPr/>
        </p:nvGraphicFramePr>
        <p:xfrm>
          <a:off x="4224528" y="1207008"/>
          <a:ext cx="3749040" cy="3858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3" name="Shape 8"/>
          <p:cNvSpPr/>
          <p:nvPr/>
        </p:nvSpPr>
        <p:spPr>
          <a:xfrm>
            <a:off x="8165592" y="804672"/>
            <a:ext cx="3840480" cy="4315968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8293608" y="896112"/>
            <a:ext cx="3584448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Growth YoY (%)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8293608" y="1152144"/>
            <a:ext cx="3584448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graphicFrame>
        <p:nvGraphicFramePr>
          <p:cNvPr id="16" name="Chart 2" descr=""/>
          <p:cNvGraphicFramePr/>
          <p:nvPr/>
        </p:nvGraphicFramePr>
        <p:xfrm>
          <a:off x="8211312" y="1207008"/>
          <a:ext cx="3749040" cy="38587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7" name="Shape 11"/>
          <p:cNvSpPr/>
          <p:nvPr/>
        </p:nvSpPr>
        <p:spPr>
          <a:xfrm>
            <a:off x="0" y="5230368"/>
            <a:ext cx="12188952" cy="162763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0" y="5230368"/>
            <a:ext cx="64008" cy="1627632"/>
          </a:xfrm>
          <a:prstGeom prst="rect">
            <a:avLst/>
          </a:prstGeom>
          <a:solidFill>
            <a:srgbClr val="875EFA"/>
          </a:solidFill>
          <a:ln w="12700">
            <a:solidFill>
              <a:srgbClr val="875EFA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82880" y="53218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75E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</a:t>
            </a:r>
            <a:endParaRPr lang="en-US" sz="800" dirty="0"/>
          </a:p>
        </p:txBody>
      </p:sp>
      <p:sp>
        <p:nvSpPr>
          <p:cNvPr id="20" name="Shape 14"/>
          <p:cNvSpPr/>
          <p:nvPr/>
        </p:nvSpPr>
        <p:spPr>
          <a:xfrm>
            <a:off x="182880" y="5532120"/>
            <a:ext cx="1188720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82880" y="5577840"/>
            <a:ext cx="1188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three advantage metrics are accelerating — not plateauing — which means the moat is widening, not narrowing.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182880" y="60350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implication</a:t>
            </a:r>
            <a:endParaRPr lang="en-US" sz="850" dirty="0"/>
          </a:p>
        </p:txBody>
      </p:sp>
      <p:sp>
        <p:nvSpPr>
          <p:cNvPr id="23" name="Text 17"/>
          <p:cNvSpPr/>
          <p:nvPr/>
        </p:nvSpPr>
        <p:spPr>
          <a:xfrm>
            <a:off x="182880" y="62362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widening moat at this stage of scale is rare. It signals that technology and data advantages are compounding.</a:t>
            </a:r>
            <a:endParaRPr lang="en-US" sz="750" dirty="0"/>
          </a:p>
        </p:txBody>
      </p:sp>
      <p:sp>
        <p:nvSpPr>
          <p:cNvPr id="24" name="Text 18"/>
          <p:cNvSpPr/>
          <p:nvPr/>
        </p:nvSpPr>
        <p:spPr>
          <a:xfrm>
            <a:off x="4160520" y="60350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or watch point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4160520" y="62362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Sustaining this trajectory requires continued R&amp;D investment — any cost-cutting that reduces tech spend reverses the trend.</a:t>
            </a:r>
            <a:endParaRPr lang="en-US" sz="750" dirty="0"/>
          </a:p>
        </p:txBody>
      </p:sp>
      <p:sp>
        <p:nvSpPr>
          <p:cNvPr id="26" name="Text 20"/>
          <p:cNvSpPr/>
          <p:nvPr/>
        </p:nvSpPr>
        <p:spPr>
          <a:xfrm>
            <a:off x="8138160" y="60350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action</a:t>
            </a:r>
            <a:endParaRPr lang="en-US" sz="850" dirty="0"/>
          </a:p>
        </p:txBody>
      </p:sp>
      <p:sp>
        <p:nvSpPr>
          <p:cNvPr id="27" name="Text 21"/>
          <p:cNvSpPr/>
          <p:nvPr/>
        </p:nvSpPr>
        <p:spPr>
          <a:xfrm>
            <a:off x="8138160" y="62362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Ring-fence the technology and data science budget as a non-negotiable capex line, not a discretionary opex item.</a:t>
            </a:r>
            <a:endParaRPr lang="en-US" sz="750" dirty="0"/>
          </a:p>
        </p:txBody>
      </p:sp>
      <p:sp>
        <p:nvSpPr>
          <p:cNvPr id="28" name="Text 22"/>
          <p:cNvSpPr/>
          <p:nvPr/>
        </p:nvSpPr>
        <p:spPr>
          <a:xfrm>
            <a:off x="11704320" y="66294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image2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75720" y="73152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" y="457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75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 with Weaver Fintech to capture the R180B underserved lending opportunity across Southern Africa.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20040" y="566928"/>
            <a:ext cx="10698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Investment Proposition  |  Strategic Partnership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182880" y="841248"/>
            <a:ext cx="5486400" cy="4370832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20040" y="914400"/>
            <a:ext cx="5212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Case for Partnership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20040" y="1188720"/>
            <a:ext cx="521208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20040" y="1335024"/>
            <a:ext cx="310896" cy="310896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13350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49808" y="1298448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R180B addressable market remains 60% underserved by traditional banks in Southern Africa alone.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0040" y="2103120"/>
            <a:ext cx="310896" cy="310896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2103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749808" y="2066544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Weaver's 9.1× LTV:CAC ratio is more than double the global fintech benchmark of 4–5×.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0040" y="2871216"/>
            <a:ext cx="310896" cy="310896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" y="28712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49808" y="2834640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Regulatory standing is clean: fully licensed under FSCA, NCA, and POPIA with zero enforcement actions.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320040" y="3639312"/>
            <a:ext cx="310896" cy="310896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0040" y="363931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49808" y="3602736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Technology stack is proprietary and API-first — integration with partner systems is weeks, not months.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20040" y="4407408"/>
            <a:ext cx="310896" cy="310896"/>
          </a:xfrm>
          <a:prstGeom prst="ellipse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0040" y="440740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749808" y="4370832"/>
            <a:ext cx="4754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Management team has 80+ years of combined financial services and technology leadership experience.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852160" y="841248"/>
            <a:ext cx="3017520" cy="2011680"/>
          </a:xfrm>
          <a:prstGeom prst="roundRect">
            <a:avLst>
              <a:gd name="adj" fmla="val 4545"/>
            </a:avLst>
          </a:prstGeom>
          <a:solidFill>
            <a:srgbClr val="875EFA"/>
          </a:solidFill>
          <a:ln w="12700">
            <a:solidFill>
              <a:srgbClr val="875EF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989320" y="950976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89320" y="9509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75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5989320" y="1463040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Invest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989320" y="1901952"/>
            <a:ext cx="272491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 capital into Weaver's Series B to fund geographic expansion into SADC markets.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9006840" y="841248"/>
            <a:ext cx="3017520" cy="201168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9144000" y="950976"/>
            <a:ext cx="420624" cy="420624"/>
          </a:xfrm>
          <a:prstGeom prst="ellipse">
            <a:avLst/>
          </a:prstGeom>
          <a:solidFill>
            <a:srgbClr val="875EFA"/>
          </a:solidFill>
          <a:ln w="12700">
            <a:solidFill>
              <a:srgbClr val="875EF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144000" y="950976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9144000" y="1463040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Partner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9144000" y="1901952"/>
            <a:ext cx="272491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White-label Weaver's credit engine to extend financial access through your distribution.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5852160" y="3054096"/>
            <a:ext cx="3017520" cy="2011680"/>
          </a:xfrm>
          <a:prstGeom prst="roundRect">
            <a:avLst>
              <a:gd name="adj" fmla="val 4545"/>
            </a:avLst>
          </a:prstGeom>
          <a:solidFill>
            <a:srgbClr val="875EFA"/>
          </a:solidFill>
          <a:ln w="12700">
            <a:solidFill>
              <a:srgbClr val="875EF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989320" y="3163824"/>
            <a:ext cx="420624" cy="42062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9320" y="31638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75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989320" y="3675888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Integrate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989320" y="4114800"/>
            <a:ext cx="272491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your customer base to Weaver's lending, insurance, and savings product suite.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9006840" y="3054096"/>
            <a:ext cx="3017520" cy="2011680"/>
          </a:xfrm>
          <a:prstGeom prst="roundRect">
            <a:avLst>
              <a:gd name="adj" fmla="val 4545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144000" y="3163824"/>
            <a:ext cx="420624" cy="420624"/>
          </a:xfrm>
          <a:prstGeom prst="ellipse">
            <a:avLst/>
          </a:prstGeom>
          <a:solidFill>
            <a:srgbClr val="875EFA"/>
          </a:solidFill>
          <a:ln w="12700">
            <a:solidFill>
              <a:srgbClr val="875EFA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144000" y="3163824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9144000" y="3675888"/>
            <a:ext cx="27249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Co-build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9144000" y="4114800"/>
            <a:ext cx="2724912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CC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Commission bespoke product development leveraging Weaver's technology and data assets.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0" y="5230368"/>
            <a:ext cx="12188952" cy="1627632"/>
          </a:xfrm>
          <a:prstGeom prst="rect">
            <a:avLst/>
          </a:prstGeom>
          <a:solidFill>
            <a:srgbClr val="EFEFEF"/>
          </a:solidFill>
          <a:ln w="12700">
            <a:solidFill>
              <a:srgbClr val="EFEFE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0" y="5230368"/>
            <a:ext cx="64008" cy="1627632"/>
          </a:xfrm>
          <a:prstGeom prst="rect">
            <a:avLst/>
          </a:prstGeom>
          <a:solidFill>
            <a:srgbClr val="875EFA"/>
          </a:solidFill>
          <a:ln w="12700">
            <a:solidFill>
              <a:srgbClr val="875EFA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82880" y="532180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75E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INSIGHT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182880" y="5532120"/>
            <a:ext cx="11887200" cy="10973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82880" y="5577840"/>
            <a:ext cx="1188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Weaver's window for category leadership is open now — first-mover advantage in SADC digital lending closes within 24 months.</a:t>
            </a:r>
            <a:endParaRPr lang="en-US" sz="1050" dirty="0"/>
          </a:p>
        </p:txBody>
      </p:sp>
      <p:sp>
        <p:nvSpPr>
          <p:cNvPr id="48" name="Text 45"/>
          <p:cNvSpPr/>
          <p:nvPr/>
        </p:nvSpPr>
        <p:spPr>
          <a:xfrm>
            <a:off x="182880" y="60350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implication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182880" y="62362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partner that moves first gains preferred distribution rights, co-branded product exclusivity, and data network effects.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4160520" y="60350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or watch point</a:t>
            </a:r>
            <a:endParaRPr lang="en-US" sz="850" dirty="0"/>
          </a:p>
        </p:txBody>
      </p:sp>
      <p:sp>
        <p:nvSpPr>
          <p:cNvPr id="51" name="Text 48"/>
          <p:cNvSpPr/>
          <p:nvPr/>
        </p:nvSpPr>
        <p:spPr>
          <a:xfrm>
            <a:off x="4160520" y="62362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Delay beyond Q3 2026 risks a competing capital deployment that locks Weaver into an exclusive arrangement with a rival.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8138160" y="603504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action</a:t>
            </a:r>
            <a:endParaRPr lang="en-US" sz="850" dirty="0"/>
          </a:p>
        </p:txBody>
      </p:sp>
      <p:sp>
        <p:nvSpPr>
          <p:cNvPr id="53" name="Text 50"/>
          <p:cNvSpPr/>
          <p:nvPr/>
        </p:nvSpPr>
        <p:spPr>
          <a:xfrm>
            <a:off x="8138160" y="623620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a due diligence session and term sheet discussion before end of Q2 2026.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11704320" y="6629400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image1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0040" y="256032"/>
            <a:ext cx="228600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468880"/>
            <a:ext cx="121889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875E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Thank you.</a:t>
            </a:r>
            <a:endParaRPr lang="en-US" sz="6400" dirty="0"/>
          </a:p>
        </p:txBody>
      </p:sp>
      <p:sp>
        <p:nvSpPr>
          <p:cNvPr id="4" name="Text 1"/>
          <p:cNvSpPr/>
          <p:nvPr/>
        </p:nvSpPr>
        <p:spPr>
          <a:xfrm>
            <a:off x="0" y="6126480"/>
            <a:ext cx="121889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weaverfintech.com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C4FF00"/>
          </a:solidFill>
          <a:ln w="12700">
            <a:solidFill>
              <a:srgbClr val="C4FF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2026-06-02T04:41:13Z</dcterms:created>
  <dcterms:modified xsi:type="dcterms:W3CDTF">2026-06-02T04:41:13Z</dcterms:modified>
</cp:coreProperties>
</file>